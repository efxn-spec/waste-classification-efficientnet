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bin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13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8210"/>
            <a:ext cx="6190348" cy="16244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7259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AI-Powered Waste Classification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3960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Computer Vision Project | SAIA 2133 | Session 2025/2026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099447"/>
            <a:ext cx="3240405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6467713" y="5171242"/>
            <a:ext cx="295322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AHMAD IRFAN JOHAN BIN MAZLAN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84187" y="5091827"/>
            <a:ext cx="1315045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/>
          <p:nvPr/>
        </p:nvSpPr>
        <p:spPr>
          <a:xfrm>
            <a:off x="9835396" y="5171242"/>
            <a:ext cx="101262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A24AI0008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98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1530" y="3536513"/>
            <a:ext cx="3059787" cy="435769"/>
          </a:xfrm>
          <a:prstGeom prst="roundRect">
            <a:avLst>
              <a:gd name="adj" fmla="val 6385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595" y="3661648"/>
            <a:ext cx="185380" cy="1853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8606" y="3606046"/>
            <a:ext cx="2503646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ENVIRONMENTAL CHALLENGE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11530" y="4064913"/>
            <a:ext cx="10053876" cy="68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Waste Management Crisis</a:t>
            </a:r>
            <a:endParaRPr lang="en-US" sz="4250" dirty="0"/>
          </a:p>
        </p:txBody>
      </p:sp>
      <p:sp>
        <p:nvSpPr>
          <p:cNvPr id="7" name="Text 3"/>
          <p:cNvSpPr/>
          <p:nvPr/>
        </p:nvSpPr>
        <p:spPr>
          <a:xfrm>
            <a:off x="811530" y="532638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811530" y="5899071"/>
            <a:ext cx="6220897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Manual waste sorting is labor-intensive and error-prone. Inefficient segregation contaminates recyclables, reduces recycling efficiency, and increases environmental pollution. Hazardous materials like batteries require special handling.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05593" y="5326380"/>
            <a:ext cx="272784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Solution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605593" y="5899071"/>
            <a:ext cx="6220897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CNNs learn hierarchical visual features from raw pixel data, enabling automated waste classification. This project develops a system to categorize garbage into battery, brown glass, and cardboard classes.</a:t>
            </a:r>
            <a:endParaRPr lang="en-US" sz="18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D9551963-6834-3504-EA62-E407BCDDF9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9948" y="538163"/>
            <a:ext cx="5933003" cy="575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Composition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89948" y="1602938"/>
            <a:ext cx="3720346" cy="64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2,443</a:t>
            </a:r>
            <a:endParaRPr lang="en-US" sz="5050" dirty="0"/>
          </a:p>
        </p:txBody>
      </p:sp>
      <p:sp>
        <p:nvSpPr>
          <p:cNvPr id="4" name="Text 2"/>
          <p:cNvSpPr/>
          <p:nvPr/>
        </p:nvSpPr>
        <p:spPr>
          <a:xfrm>
            <a:off x="2198846" y="2493169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Images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9948" y="2898338"/>
            <a:ext cx="3720346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Grayscale images across three garbage categories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54848" y="1602938"/>
            <a:ext cx="3720465" cy="64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5050" dirty="0"/>
          </a:p>
        </p:txBody>
      </p:sp>
      <p:sp>
        <p:nvSpPr>
          <p:cNvPr id="7" name="Text 5"/>
          <p:cNvSpPr/>
          <p:nvPr/>
        </p:nvSpPr>
        <p:spPr>
          <a:xfrm>
            <a:off x="6163866" y="2493169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54848" y="2898338"/>
            <a:ext cx="372046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Battery, brown glass, and cardboard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9868" y="1602938"/>
            <a:ext cx="3720465" cy="64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224×224</a:t>
            </a:r>
            <a:endParaRPr lang="en-US" sz="5050" dirty="0"/>
          </a:p>
        </p:txBody>
      </p:sp>
      <p:sp>
        <p:nvSpPr>
          <p:cNvPr id="10" name="Text 8"/>
          <p:cNvSpPr/>
          <p:nvPr/>
        </p:nvSpPr>
        <p:spPr>
          <a:xfrm>
            <a:off x="10128885" y="2493169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Image Size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9868" y="2898338"/>
            <a:ext cx="372046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Standardized pixel dimensions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6459" y="5016698"/>
            <a:ext cx="2407087" cy="489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70%</a:t>
            </a:r>
            <a:endParaRPr lang="en-US" sz="38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59" y="3793569"/>
            <a:ext cx="2935605" cy="29356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198846" y="6973610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Set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89948" y="7378779"/>
            <a:ext cx="3720346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1,710 images for model learning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11478" y="5016698"/>
            <a:ext cx="2407087" cy="489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15%</a:t>
            </a:r>
            <a:endParaRPr lang="en-US" sz="3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278" y="3793569"/>
            <a:ext cx="2935605" cy="29356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63866" y="6973610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Validation Set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54848" y="7378779"/>
            <a:ext cx="372046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366 images for tuning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076498" y="5016698"/>
            <a:ext cx="2407087" cy="489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15%</a:t>
            </a:r>
            <a:endParaRPr lang="en-US" sz="38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2298" y="3793569"/>
            <a:ext cx="2935605" cy="29356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128885" y="6973610"/>
            <a:ext cx="2302431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Set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9419868" y="7378779"/>
            <a:ext cx="372046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367 images for evaluation</a:t>
            </a:r>
            <a:endParaRPr lang="en-US" sz="15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06A3CC31-EFC6-4C2A-F42A-F091D6FC7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4628" y="657463"/>
            <a:ext cx="2284095" cy="463391"/>
          </a:xfrm>
          <a:prstGeom prst="roundRect">
            <a:avLst>
              <a:gd name="adj" fmla="val 6176"/>
            </a:avLst>
          </a:prstGeom>
          <a:noFill/>
          <a:ln w="762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242" y="793790"/>
            <a:ext cx="190738" cy="1907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1349" y="736521"/>
            <a:ext cx="1696760" cy="305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34628" y="1216223"/>
            <a:ext cx="7474744" cy="1402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Preprocessing &amp; Augmentation</a:t>
            </a:r>
            <a:endParaRPr lang="en-US" sz="4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28" y="2976682"/>
            <a:ext cx="1192411" cy="1430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5521" y="3215164"/>
            <a:ext cx="2805827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Resizing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5521" y="3708916"/>
            <a:ext cx="6043851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images standardized to 224×224 pixels for consistency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28" y="4407575"/>
            <a:ext cx="1192411" cy="1430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5521" y="4646057"/>
            <a:ext cx="2805827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5521" y="5139809"/>
            <a:ext cx="6043851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Pixel values scaled to [0,1] range for training stability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628" y="5838468"/>
            <a:ext cx="1192411" cy="17336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65521" y="6076950"/>
            <a:ext cx="2805827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Augmentation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265521" y="6570702"/>
            <a:ext cx="6043851" cy="76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Random flipping, rotation, brightness adjustment, and zooming applied</a:t>
            </a:r>
            <a:endParaRPr lang="en-US" sz="18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A24152BB-3222-2A2E-35AB-3806BF60F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54110"/>
            <a:ext cx="68543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Architectures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86301"/>
            <a:ext cx="3442335" cy="3368040"/>
          </a:xfrm>
          <a:prstGeom prst="roundRect">
            <a:avLst>
              <a:gd name="adj" fmla="val 1066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1077039" y="30256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 CNN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616881"/>
            <a:ext cx="2963704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architecture with 3 convolutional layers (32, 64, 64 filters), max-pooling, dropout, and fully connected layer. 3.27M trainable parameters.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871561" y="2786301"/>
            <a:ext cx="3442335" cy="3719989"/>
          </a:xfrm>
          <a:prstGeom prst="roundRect">
            <a:avLst>
              <a:gd name="adj" fmla="val 1043"/>
            </a:avLst>
          </a:prstGeom>
          <a:solidFill>
            <a:srgbClr val="1C364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/>
          <p:nvPr/>
        </p:nvSpPr>
        <p:spPr>
          <a:xfrm>
            <a:off x="5110877" y="3025616"/>
            <a:ext cx="296370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Transfer Learning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10877" y="3968829"/>
            <a:ext cx="2963704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EfficientNetB0 pre-trained on ImageNet with frozen convolutional base and custom classification head. Leverages pre-learned features.</a:t>
            </a:r>
            <a:endParaRPr lang="en-US" sz="18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61C23B1-91CF-B4C2-6F68-483DE9067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575911"/>
            <a:ext cx="2918579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313" y="1705094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647706"/>
            <a:ext cx="234422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 CONFIGURATION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12145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Details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318444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356080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/>
          <p:nvPr/>
        </p:nvSpPr>
        <p:spPr>
          <a:xfrm>
            <a:off x="837724" y="37414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Optimizer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7724" y="423695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Adam optimizer with learning rate of 0.001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434858" y="318444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434858" y="356080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9"/>
          <p:cNvSpPr/>
          <p:nvPr/>
        </p:nvSpPr>
        <p:spPr>
          <a:xfrm>
            <a:off x="7434858" y="37414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Loss Function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34858" y="423695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Sparse categorical cross-entropy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37724" y="503872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37724" y="541508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3"/>
          <p:cNvSpPr/>
          <p:nvPr/>
        </p:nvSpPr>
        <p:spPr>
          <a:xfrm>
            <a:off x="837724" y="5595699"/>
            <a:ext cx="287916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Duration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37724" y="609123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 epochs with early stopping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434858" y="503872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9" name="Shape 16"/>
          <p:cNvSpPr/>
          <p:nvPr/>
        </p:nvSpPr>
        <p:spPr>
          <a:xfrm>
            <a:off x="7434858" y="541508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7"/>
          <p:cNvSpPr/>
          <p:nvPr/>
        </p:nvSpPr>
        <p:spPr>
          <a:xfrm>
            <a:off x="7434858" y="5595699"/>
            <a:ext cx="39320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Learning Rate Strategy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34858" y="609123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Reduction when validation plateaus</a:t>
            </a:r>
            <a:endParaRPr lang="en-US" sz="18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446DC111-88B5-8E07-ADF7-15ADE1CCA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6412"/>
            <a:ext cx="899945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 CNN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68260"/>
            <a:ext cx="4831556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0"/>
              </a:lnSpc>
              <a:buNone/>
            </a:pPr>
            <a:r>
              <a:rPr lang="en-US" sz="6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84.2%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1833801" y="3357205"/>
            <a:ext cx="28394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Overall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7724" y="3978354"/>
            <a:ext cx="483155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custom CNN achieved acceptable performance but struggled with visually similar categories, particularly battery and brown glass.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78" y="1520429"/>
            <a:ext cx="4926008" cy="38652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7724" y="5612011"/>
            <a:ext cx="4158734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5"/>
          <p:cNvSpPr/>
          <p:nvPr/>
        </p:nvSpPr>
        <p:spPr>
          <a:xfrm>
            <a:off x="1107519" y="58818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Battery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07519" y="6377345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0.8105 | Recall: 0.8611 | F1: 0.8350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5235773" y="5612011"/>
            <a:ext cx="4158734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8"/>
          <p:cNvSpPr/>
          <p:nvPr/>
        </p:nvSpPr>
        <p:spPr>
          <a:xfrm>
            <a:off x="5505569" y="58818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Brown Glass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505569" y="6377345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0.8406 | Recall: 0.6824 | F1: 0.7532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9633823" y="5612011"/>
            <a:ext cx="4158853" cy="1801177"/>
          </a:xfrm>
          <a:prstGeom prst="roundRect">
            <a:avLst>
              <a:gd name="adj" fmla="val 1994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1"/>
          <p:cNvSpPr/>
          <p:nvPr/>
        </p:nvSpPr>
        <p:spPr>
          <a:xfrm>
            <a:off x="9903619" y="58818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Cardboard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03619" y="6377345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0.8759 | Recall: 0.9203 | F1: 0.8975</a:t>
            </a:r>
            <a:endParaRPr lang="en-US" sz="18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B3051316-9FC1-4CF4-662C-F6CE8640D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717" y="614958"/>
            <a:ext cx="11985427" cy="657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EfficientNet Transfer Learning Results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868" y="1329874"/>
            <a:ext cx="4429482" cy="3536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6596" y="1971556"/>
            <a:ext cx="4898588" cy="737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97.3%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10079236" y="2988945"/>
            <a:ext cx="2653308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Overall Accuracy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956596" y="3569375"/>
            <a:ext cx="4898588" cy="107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Transfer learning significantly outperformed the custom CNN with near-perfect classification across all categories.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82717" y="5095161"/>
            <a:ext cx="4205883" cy="2520077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1006316" y="5318760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0863" y="5503307"/>
            <a:ext cx="301823" cy="3018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6316" y="6213277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Battery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1006316" y="6676311"/>
            <a:ext cx="3758684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0.9857 | Recall: 0.9583 | F1: 0.9718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12199" y="5095161"/>
            <a:ext cx="4205883" cy="2520077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Shape 9"/>
          <p:cNvSpPr/>
          <p:nvPr/>
        </p:nvSpPr>
        <p:spPr>
          <a:xfrm>
            <a:off x="5435798" y="5318760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0345" y="5503307"/>
            <a:ext cx="301823" cy="3018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35798" y="6213277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Brown Glass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5435798" y="6676311"/>
            <a:ext cx="3758684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0.9770 | Recall: 1.0000 | F1: 0.9884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9641681" y="5095161"/>
            <a:ext cx="4206002" cy="2520077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Shape 13"/>
          <p:cNvSpPr/>
          <p:nvPr/>
        </p:nvSpPr>
        <p:spPr>
          <a:xfrm>
            <a:off x="9865281" y="5318760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9828" y="5503307"/>
            <a:ext cx="301823" cy="3018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65281" y="6213277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Cardboard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9865281" y="6676311"/>
            <a:ext cx="3758803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Precision: 0.9571 | Recall: 0.9710 | F1: 0.9640</a:t>
            </a:r>
            <a:endParaRPr lang="en-US" sz="17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B57E60E7-D549-01A3-6D22-FFF390EB68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2139434"/>
            <a:ext cx="2248257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933" y="2276237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112" y="2218849"/>
            <a:ext cx="165866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ETHICS &amp; PRACTICE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700218"/>
            <a:ext cx="1224498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Ethical and Practical Considerations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4062413"/>
            <a:ext cx="309919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Practical Potential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7724" y="4557951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 deployment potential for automated sorting facilities. Can reduce contamination, improve recycling efficiency, and lower operational costs.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55776" y="40624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Bias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5776" y="4557951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 generalization to real-world conditions with varying lighting, backgrounds, and object appearances. Requires dataset expansion.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673828" y="4062413"/>
            <a:ext cx="293322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Human Oversight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73828" y="4557951"/>
            <a:ext cx="411884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Systems should complement, not replace, human supervision. Over-reliance without oversight could result in incorrect sorting decisions.</a:t>
            </a:r>
            <a:endParaRPr lang="en-US" sz="185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3F5E066-2855-B6E3-363D-656DABB49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3867" y="854273"/>
            <a:ext cx="7769066" cy="1155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Future Directions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394847" y="2304217"/>
            <a:ext cx="22860" cy="3779520"/>
          </a:xfrm>
          <a:prstGeom prst="roundRect">
            <a:avLst>
              <a:gd name="adj" fmla="val 12890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6592967" y="2513767"/>
            <a:ext cx="589240" cy="22860"/>
          </a:xfrm>
          <a:prstGeom prst="roundRect">
            <a:avLst>
              <a:gd name="adj" fmla="val 12890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6173867" y="2304217"/>
            <a:ext cx="441960" cy="44196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4"/>
          <p:cNvSpPr/>
          <p:nvPr/>
        </p:nvSpPr>
        <p:spPr>
          <a:xfrm>
            <a:off x="6256199" y="2351901"/>
            <a:ext cx="277297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377113" y="2371725"/>
            <a:ext cx="2311122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Success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77113" y="2778323"/>
            <a:ext cx="656582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Successfully demonstrated CNN-based garbage classification with two approaches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92967" y="4009311"/>
            <a:ext cx="589240" cy="22860"/>
          </a:xfrm>
          <a:prstGeom prst="roundRect">
            <a:avLst>
              <a:gd name="adj" fmla="val 12890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6173867" y="3799761"/>
            <a:ext cx="441960" cy="44196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9"/>
          <p:cNvSpPr/>
          <p:nvPr/>
        </p:nvSpPr>
        <p:spPr>
          <a:xfrm>
            <a:off x="6256199" y="3847445"/>
            <a:ext cx="277297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7377113" y="3867269"/>
            <a:ext cx="4040386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Transfer Learning Advantage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77113" y="4273868"/>
            <a:ext cx="656582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EfficientNet achieved 97.3% accuracy, significantly outperforming custom CNN at 84.2%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92967" y="5504855"/>
            <a:ext cx="589240" cy="22860"/>
          </a:xfrm>
          <a:prstGeom prst="roundRect">
            <a:avLst>
              <a:gd name="adj" fmla="val 128906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3"/>
          <p:cNvSpPr/>
          <p:nvPr/>
        </p:nvSpPr>
        <p:spPr>
          <a:xfrm>
            <a:off x="6173867" y="5295305"/>
            <a:ext cx="441960" cy="44196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4"/>
          <p:cNvSpPr/>
          <p:nvPr/>
        </p:nvSpPr>
        <p:spPr>
          <a:xfrm>
            <a:off x="6256199" y="5342989"/>
            <a:ext cx="277297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7377113" y="5362813"/>
            <a:ext cx="3050619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Environmental Impact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77113" y="5769412"/>
            <a:ext cx="65658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 learning systems can support sustainable waste management initiatives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68428" y="6525697"/>
            <a:ext cx="747450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"With further development, AI-powered waste classification systems have the potential to contribute meaningfully to environmental conservation efforts."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3867" y="6304717"/>
            <a:ext cx="22860" cy="107061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29D56AD6-257D-8337-9F8A-87C02DA6D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54654"/>
            <a:ext cx="1985252" cy="520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Text 1"/>
          <p:cNvSpPr/>
          <p:nvPr/>
        </p:nvSpPr>
        <p:spPr>
          <a:xfrm>
            <a:off x="837724" y="2237065"/>
            <a:ext cx="11264979" cy="140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0"/>
              </a:lnSpc>
              <a:buNone/>
            </a:pPr>
            <a:r>
              <a:rPr lang="en-US" sz="8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837724" y="400407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 your attention and interest in my AI-powered waste classification project.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74606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 dirty="0"/>
          </a:p>
        </p:txBody>
      </p:sp>
      <p:sp>
        <p:nvSpPr>
          <p:cNvPr id="7" name="Shape 4"/>
          <p:cNvSpPr/>
          <p:nvPr/>
        </p:nvSpPr>
        <p:spPr>
          <a:xfrm>
            <a:off x="837724" y="5534978"/>
            <a:ext cx="2508052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313" y="5664160"/>
            <a:ext cx="191453" cy="1914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8492" y="5606772"/>
            <a:ext cx="193369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SUSTAINABLE FUTURE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465433" y="5527357"/>
            <a:ext cx="2268141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6643" y="5664160"/>
            <a:ext cx="191453" cy="1914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03821" y="5606772"/>
            <a:ext cx="167854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SMART SOLUTIONS</a:t>
            </a:r>
            <a:endParaRPr lang="en-US" sz="15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8DFF467-1834-E572-ADE4-9BCBFF0EE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1826" y="3121652"/>
            <a:ext cx="6190348" cy="1624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553</Words>
  <Application>Microsoft Office PowerPoint</Application>
  <PresentationFormat>Custom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Unbounded</vt:lpstr>
      <vt:lpstr>Arial</vt:lpstr>
      <vt:lpstr>Cabin</vt:lpstr>
      <vt:lpstr>Unbounded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irfan johan</dc:creator>
  <cp:lastModifiedBy>irfan johan</cp:lastModifiedBy>
  <cp:revision>3</cp:revision>
  <dcterms:created xsi:type="dcterms:W3CDTF">2026-01-12T12:00:51Z</dcterms:created>
  <dcterms:modified xsi:type="dcterms:W3CDTF">2026-01-12T13:52:42Z</dcterms:modified>
</cp:coreProperties>
</file>